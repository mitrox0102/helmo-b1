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7" r:id="rId9"/>
    <p:sldId id="268" r:id="rId10"/>
    <p:sldId id="264" r:id="rId11"/>
    <p:sldId id="265" r:id="rId12"/>
    <p:sldId id="266" r:id="rId13"/>
    <p:sldId id="269" r:id="rId14"/>
    <p:sldId id="27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D1E7-DDBA-4AB5-B0DA-32988361C52C}" v="5" dt="2022-02-08T08:31:00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HENDRIKX" userId="de535164-e490-4e54-a78c-9a958a5809ee" providerId="ADAL" clId="{282AD1E7-DDBA-4AB5-B0DA-32988361C52C}"/>
    <pc:docChg chg="undo custSel modSld">
      <pc:chgData name="Nicolas HENDRIKX" userId="de535164-e490-4e54-a78c-9a958a5809ee" providerId="ADAL" clId="{282AD1E7-DDBA-4AB5-B0DA-32988361C52C}" dt="2022-02-08T08:31:00.661" v="97"/>
      <pc:docMkLst>
        <pc:docMk/>
      </pc:docMkLst>
      <pc:sldChg chg="addSp delSp modSp mod modAnim">
        <pc:chgData name="Nicolas HENDRIKX" userId="de535164-e490-4e54-a78c-9a958a5809ee" providerId="ADAL" clId="{282AD1E7-DDBA-4AB5-B0DA-32988361C52C}" dt="2022-02-08T08:26:51.810" v="95"/>
        <pc:sldMkLst>
          <pc:docMk/>
          <pc:sldMk cId="1836990502" sldId="260"/>
        </pc:sldMkLst>
        <pc:picChg chg="add del">
          <ac:chgData name="Nicolas HENDRIKX" userId="de535164-e490-4e54-a78c-9a958a5809ee" providerId="ADAL" clId="{282AD1E7-DDBA-4AB5-B0DA-32988361C52C}" dt="2022-02-08T08:23:53.390" v="68" actId="22"/>
          <ac:picMkLst>
            <pc:docMk/>
            <pc:sldMk cId="1836990502" sldId="260"/>
            <ac:picMk id="9" creationId="{499D35BB-85CF-446D-AB80-891CAF809C7C}"/>
          </ac:picMkLst>
        </pc:picChg>
        <pc:picChg chg="add del">
          <ac:chgData name="Nicolas HENDRIKX" userId="de535164-e490-4e54-a78c-9a958a5809ee" providerId="ADAL" clId="{282AD1E7-DDBA-4AB5-B0DA-32988361C52C}" dt="2022-02-08T08:23:52.408" v="67" actId="22"/>
          <ac:picMkLst>
            <pc:docMk/>
            <pc:sldMk cId="1836990502" sldId="260"/>
            <ac:picMk id="13" creationId="{1FAC6FCC-4946-463B-9ABF-A64F7BCC443B}"/>
          </ac:picMkLst>
        </pc:picChg>
        <pc:picChg chg="del">
          <ac:chgData name="Nicolas HENDRIKX" userId="de535164-e490-4e54-a78c-9a958a5809ee" providerId="ADAL" clId="{282AD1E7-DDBA-4AB5-B0DA-32988361C52C}" dt="2022-02-08T08:23:47.544" v="64" actId="478"/>
          <ac:picMkLst>
            <pc:docMk/>
            <pc:sldMk cId="1836990502" sldId="260"/>
            <ac:picMk id="14" creationId="{FDED5EB3-7467-45E3-93F1-3FFAC6E2BA0A}"/>
          </ac:picMkLst>
        </pc:picChg>
        <pc:picChg chg="del mod">
          <ac:chgData name="Nicolas HENDRIKX" userId="de535164-e490-4e54-a78c-9a958a5809ee" providerId="ADAL" clId="{282AD1E7-DDBA-4AB5-B0DA-32988361C52C}" dt="2022-02-08T08:26:15.569" v="89" actId="478"/>
          <ac:picMkLst>
            <pc:docMk/>
            <pc:sldMk cId="1836990502" sldId="260"/>
            <ac:picMk id="16" creationId="{190FEF7D-FBC5-452F-A05D-FDED455563C3}"/>
          </ac:picMkLst>
        </pc:picChg>
        <pc:picChg chg="add del mod">
          <ac:chgData name="Nicolas HENDRIKX" userId="de535164-e490-4e54-a78c-9a958a5809ee" providerId="ADAL" clId="{282AD1E7-DDBA-4AB5-B0DA-32988361C52C}" dt="2022-02-08T08:24:10.597" v="73" actId="478"/>
          <ac:picMkLst>
            <pc:docMk/>
            <pc:sldMk cId="1836990502" sldId="260"/>
            <ac:picMk id="17" creationId="{773831B9-E076-45D3-A3EA-C284F19491B3}"/>
          </ac:picMkLst>
        </pc:picChg>
        <pc:picChg chg="add mod">
          <ac:chgData name="Nicolas HENDRIKX" userId="de535164-e490-4e54-a78c-9a958a5809ee" providerId="ADAL" clId="{282AD1E7-DDBA-4AB5-B0DA-32988361C52C}" dt="2022-02-08T08:25:31.125" v="81" actId="1076"/>
          <ac:picMkLst>
            <pc:docMk/>
            <pc:sldMk cId="1836990502" sldId="260"/>
            <ac:picMk id="19" creationId="{24E2093F-B463-4DA1-95F7-23414F523CE8}"/>
          </ac:picMkLst>
        </pc:picChg>
        <pc:picChg chg="add mod">
          <ac:chgData name="Nicolas HENDRIKX" userId="de535164-e490-4e54-a78c-9a958a5809ee" providerId="ADAL" clId="{282AD1E7-DDBA-4AB5-B0DA-32988361C52C}" dt="2022-02-08T08:26:20.012" v="91" actId="1076"/>
          <ac:picMkLst>
            <pc:docMk/>
            <pc:sldMk cId="1836990502" sldId="260"/>
            <ac:picMk id="21" creationId="{57B7ACE5-A429-4754-843B-3D6936DF3A08}"/>
          </ac:picMkLst>
        </pc:picChg>
        <pc:picChg chg="add mod">
          <ac:chgData name="Nicolas HENDRIKX" userId="de535164-e490-4e54-a78c-9a958a5809ee" providerId="ADAL" clId="{282AD1E7-DDBA-4AB5-B0DA-32988361C52C}" dt="2022-02-08T08:26:23.587" v="92" actId="1076"/>
          <ac:picMkLst>
            <pc:docMk/>
            <pc:sldMk cId="1836990502" sldId="260"/>
            <ac:picMk id="23" creationId="{8B9B24FD-67B4-43A3-AAF0-5C285A7D6646}"/>
          </ac:picMkLst>
        </pc:picChg>
      </pc:sldChg>
      <pc:sldChg chg="modSp mod">
        <pc:chgData name="Nicolas HENDRIKX" userId="de535164-e490-4e54-a78c-9a958a5809ee" providerId="ADAL" clId="{282AD1E7-DDBA-4AB5-B0DA-32988361C52C}" dt="2022-02-08T08:22:06.387" v="48" actId="20577"/>
        <pc:sldMkLst>
          <pc:docMk/>
          <pc:sldMk cId="2601170531" sldId="265"/>
        </pc:sldMkLst>
        <pc:spChg chg="mod">
          <ac:chgData name="Nicolas HENDRIKX" userId="de535164-e490-4e54-a78c-9a958a5809ee" providerId="ADAL" clId="{282AD1E7-DDBA-4AB5-B0DA-32988361C52C}" dt="2022-02-08T08:22:03.681" v="47" actId="20577"/>
          <ac:spMkLst>
            <pc:docMk/>
            <pc:sldMk cId="2601170531" sldId="265"/>
            <ac:spMk id="2" creationId="{DD700741-2C0B-4776-9B83-AF9D2F985B69}"/>
          </ac:spMkLst>
        </pc:spChg>
        <pc:spChg chg="mod">
          <ac:chgData name="Nicolas HENDRIKX" userId="de535164-e490-4e54-a78c-9a958a5809ee" providerId="ADAL" clId="{282AD1E7-DDBA-4AB5-B0DA-32988361C52C}" dt="2022-02-08T08:22:06.387" v="48" actId="20577"/>
          <ac:spMkLst>
            <pc:docMk/>
            <pc:sldMk cId="2601170531" sldId="265"/>
            <ac:spMk id="6" creationId="{91DF6D85-BE6D-4CF7-88C5-7828CE483D10}"/>
          </ac:spMkLst>
        </pc:spChg>
      </pc:sldChg>
      <pc:sldChg chg="modSp">
        <pc:chgData name="Nicolas HENDRIKX" userId="de535164-e490-4e54-a78c-9a958a5809ee" providerId="ADAL" clId="{282AD1E7-DDBA-4AB5-B0DA-32988361C52C}" dt="2022-02-08T08:31:00.661" v="97"/>
        <pc:sldMkLst>
          <pc:docMk/>
          <pc:sldMk cId="3071914998" sldId="266"/>
        </pc:sldMkLst>
        <pc:spChg chg="mod">
          <ac:chgData name="Nicolas HENDRIKX" userId="de535164-e490-4e54-a78c-9a958a5809ee" providerId="ADAL" clId="{282AD1E7-DDBA-4AB5-B0DA-32988361C52C}" dt="2022-02-08T08:29:36.395" v="96" actId="20577"/>
          <ac:spMkLst>
            <pc:docMk/>
            <pc:sldMk cId="3071914998" sldId="266"/>
            <ac:spMk id="7" creationId="{AFD098B4-690F-4DA9-94AD-C76FF0FC40CC}"/>
          </ac:spMkLst>
        </pc:spChg>
        <pc:picChg chg="mod">
          <ac:chgData name="Nicolas HENDRIKX" userId="de535164-e490-4e54-a78c-9a958a5809ee" providerId="ADAL" clId="{282AD1E7-DDBA-4AB5-B0DA-32988361C52C}" dt="2022-02-08T08:31:00.661" v="97"/>
          <ac:picMkLst>
            <pc:docMk/>
            <pc:sldMk cId="3071914998" sldId="266"/>
            <ac:picMk id="9" creationId="{35E5C693-F16A-442A-9990-504347D7A3D0}"/>
          </ac:picMkLst>
        </pc:picChg>
      </pc:sldChg>
      <pc:sldChg chg="modSp mod">
        <pc:chgData name="Nicolas HENDRIKX" userId="de535164-e490-4e54-a78c-9a958a5809ee" providerId="ADAL" clId="{282AD1E7-DDBA-4AB5-B0DA-32988361C52C}" dt="2022-02-08T08:21:07.815" v="9" actId="20577"/>
        <pc:sldMkLst>
          <pc:docMk/>
          <pc:sldMk cId="1015989716" sldId="267"/>
        </pc:sldMkLst>
        <pc:spChg chg="mod">
          <ac:chgData name="Nicolas HENDRIKX" userId="de535164-e490-4e54-a78c-9a958a5809ee" providerId="ADAL" clId="{282AD1E7-DDBA-4AB5-B0DA-32988361C52C}" dt="2022-02-08T08:21:07.815" v="9" actId="20577"/>
          <ac:spMkLst>
            <pc:docMk/>
            <pc:sldMk cId="1015989716" sldId="267"/>
            <ac:spMk id="2" creationId="{F5BFD73C-2E37-4FEB-9393-76ACD247F25F}"/>
          </ac:spMkLst>
        </pc:spChg>
        <pc:spChg chg="mod">
          <ac:chgData name="Nicolas HENDRIKX" userId="de535164-e490-4e54-a78c-9a958a5809ee" providerId="ADAL" clId="{282AD1E7-DDBA-4AB5-B0DA-32988361C52C}" dt="2022-02-08T08:21:05.497" v="8" actId="20577"/>
          <ac:spMkLst>
            <pc:docMk/>
            <pc:sldMk cId="1015989716" sldId="267"/>
            <ac:spMk id="6" creationId="{410C59CA-B81B-4298-8030-37A6774CF740}"/>
          </ac:spMkLst>
        </pc:spChg>
      </pc:sldChg>
      <pc:sldChg chg="modSp mod">
        <pc:chgData name="Nicolas HENDRIKX" userId="de535164-e490-4e54-a78c-9a958a5809ee" providerId="ADAL" clId="{282AD1E7-DDBA-4AB5-B0DA-32988361C52C}" dt="2022-02-08T08:21:37.319" v="46" actId="255"/>
        <pc:sldMkLst>
          <pc:docMk/>
          <pc:sldMk cId="834220346" sldId="268"/>
        </pc:sldMkLst>
        <pc:spChg chg="mod">
          <ac:chgData name="Nicolas HENDRIKX" userId="de535164-e490-4e54-a78c-9a958a5809ee" providerId="ADAL" clId="{282AD1E7-DDBA-4AB5-B0DA-32988361C52C}" dt="2022-02-08T08:21:37.319" v="46" actId="255"/>
          <ac:spMkLst>
            <pc:docMk/>
            <pc:sldMk cId="834220346" sldId="268"/>
            <ac:spMk id="8" creationId="{6752F467-7E26-4732-8046-93F1D6F399B9}"/>
          </ac:spMkLst>
        </pc:spChg>
        <pc:spChg chg="mod">
          <ac:chgData name="Nicolas HENDRIKX" userId="de535164-e490-4e54-a78c-9a958a5809ee" providerId="ADAL" clId="{282AD1E7-DDBA-4AB5-B0DA-32988361C52C}" dt="2022-02-08T08:21:37.319" v="46" actId="255"/>
          <ac:spMkLst>
            <pc:docMk/>
            <pc:sldMk cId="834220346" sldId="268"/>
            <ac:spMk id="11" creationId="{3F6F4094-CE4D-4F7C-A99E-5C65851DD39B}"/>
          </ac:spMkLst>
        </pc:spChg>
      </pc:sldChg>
      <pc:sldChg chg="modSp mod">
        <pc:chgData name="Nicolas HENDRIKX" userId="de535164-e490-4e54-a78c-9a958a5809ee" providerId="ADAL" clId="{282AD1E7-DDBA-4AB5-B0DA-32988361C52C}" dt="2022-02-08T08:22:37.113" v="63" actId="20577"/>
        <pc:sldMkLst>
          <pc:docMk/>
          <pc:sldMk cId="249510488" sldId="270"/>
        </pc:sldMkLst>
        <pc:spChg chg="mod">
          <ac:chgData name="Nicolas HENDRIKX" userId="de535164-e490-4e54-a78c-9a958a5809ee" providerId="ADAL" clId="{282AD1E7-DDBA-4AB5-B0DA-32988361C52C}" dt="2022-02-08T08:22:37.113" v="63" actId="20577"/>
          <ac:spMkLst>
            <pc:docMk/>
            <pc:sldMk cId="249510488" sldId="270"/>
            <ac:spMk id="3" creationId="{B65F42BC-9100-4360-8E6F-B642380ABC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2F5E6-A64C-4579-B671-D82E4E88EC63}" type="datetimeFigureOut">
              <a:rPr lang="fr-BE" smtClean="0"/>
              <a:t>03-02-26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AB399-A958-48FD-A453-2FFE4934DE3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5093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D1E90-6CB2-4E1C-AC5E-F52E2956F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0124C48-409B-412A-9DA3-417688FBC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4537DE-40F3-4528-A0A2-998EB875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A5C7-A7B0-40B9-A19A-9FB38F5D32D2}" type="datetime1">
              <a:rPr lang="fr-BE" smtClean="0"/>
              <a:t>03-02-26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DAB129-3B5A-40B7-8547-5D81344E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A84BFA-44B6-4F01-9C7C-9CC715F6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6457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B1070-BE66-41E3-BA9C-8EBADE03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8A78AE-E41F-469C-84B4-3C219E5FB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1376D-A09C-4934-AEAF-2EE7A283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B691-4872-48CE-800B-114EC2D7CF27}" type="datetime1">
              <a:rPr lang="fr-BE" smtClean="0"/>
              <a:t>03-02-26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BC76CC-523B-4197-B1CA-667D1DD4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41B914-53B6-40F5-A20F-CCA2301C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3583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5B718-2435-477B-A7A3-7D5AB6CE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5600B4-7E85-4F6B-93FC-89CFEEE90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15AE57-5686-4CB7-B15A-02E9EC67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13C0-E91F-4907-B3DA-D784B583D955}" type="datetime1">
              <a:rPr lang="fr-BE" smtClean="0"/>
              <a:t>03-02-26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0037B3-44DA-43E6-B893-C146FD37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9E64D-C00E-473A-B117-DAC894B3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441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CD127-5C3E-4DD1-B06B-7AF1D007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238F0A-DED8-4D81-8A4C-32BEDEDC3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081737-17B2-4135-9A7E-4D29288C9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E3C825-499A-4AC9-8D74-34DD30C7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E57-8FFE-499F-881B-51F1DB0A27A6}" type="datetime1">
              <a:rPr lang="fr-BE" smtClean="0"/>
              <a:t>03-02-26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4B28EF-5DCF-4A38-854D-3B7FE414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B2C299-046F-405C-8ED3-38308204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2822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45815-FC74-4BAA-98B2-E127484B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71D558-593E-4C08-ADA2-BA2A57DF8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6DA89A-4644-4420-9A97-BA94A5653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7B6309-754E-42ED-A774-895B0A563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1633131-3987-4BD8-8AFB-3D9EF674E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1A85778-3105-4C95-9965-96919270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3892-4DDB-41FC-9E69-B5CBF33EFEB6}" type="datetime1">
              <a:rPr lang="fr-BE" smtClean="0"/>
              <a:t>03-02-26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AF1FB85-D4DA-4A4A-8C74-A20BA86A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AF10441-B824-42B4-AC15-91633C42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1299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4D0BA6-7855-4549-BC8F-2A577A4D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B02EF3-B87D-4BB4-B783-98C1BABC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D73E-FB41-47A0-853C-776B928CD73E}" type="datetime1">
              <a:rPr lang="fr-BE" smtClean="0"/>
              <a:t>03-02-26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085DCC-6ED7-4924-AA03-5599209F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0A7F28-4A09-48B1-9EE7-179094D00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771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91AF188-703E-418B-8635-038C5424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F05AC-30C7-460F-852A-D35FBEAC6B69}" type="datetime1">
              <a:rPr lang="fr-BE" smtClean="0"/>
              <a:t>03-02-26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5BB5F3-6F15-4A2F-9599-4E788D33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92AA76-F4C3-4759-856A-107A7778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45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43082-418E-4DA0-97C5-8F5E314B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9BB86-EFC3-42D4-8332-E4B84659D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548DBC-3AA3-4201-9BBA-D84C4BDB0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8BD48E-DD4C-4419-8D41-5DB98320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F2A9-41EF-4887-9B88-FC385D99ACA1}" type="datetime1">
              <a:rPr lang="fr-BE" smtClean="0"/>
              <a:t>03-02-26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6A804B-A9C7-4396-85B0-24224BCE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CCA1C-339E-41C1-A679-0FA98F52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832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8E4B8-A0C0-420B-8E86-F2C99B73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1F3D58-10BA-4076-B04C-02D7F4F9B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FCFDCE-03E2-427C-AD7E-D931169E5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6A9007-F919-4D8C-98C6-833A203D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FBCB-2732-4C03-AF3A-14E9FA6760FE}" type="datetime1">
              <a:rPr lang="fr-BE" smtClean="0"/>
              <a:t>03-02-26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465DA8-A4E0-4D1E-92E9-B0FD46CF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FE00F8-A011-43E5-AE26-EF0CBC96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6899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A0885C-9094-4AD3-9555-FF53CD83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3C2EA8-58CA-459A-89BA-D688DD910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5D7797-A6CF-4ED2-A137-99A47940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E8AF-0869-45A8-BC00-A593395EB065}" type="datetime1">
              <a:rPr lang="fr-BE" smtClean="0"/>
              <a:t>03-02-26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4FA9F9-9497-4274-A67B-2439B0EC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8258DA-82E1-4C3A-BF20-957ADC37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5257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6DEC92-691D-48F8-928C-1665E9A58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FE70F3-18EB-45DF-B969-533965029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F37A41-BBAB-426F-9701-491E473F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25BFF-5702-4BE4-83D5-B1BC3DE787FC}" type="datetime1">
              <a:rPr lang="fr-BE" smtClean="0"/>
              <a:t>03-02-26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40F7FF-46BC-473D-A9C2-EEBC2432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BAAF5F-1A25-4BBB-AD17-559E98E4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575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044E07A-8AF4-473B-8DA2-9F79EB74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3BA468-26AC-4C85-B2AC-F023A372C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E47F98-1CA2-45A6-940A-BF7AB9A11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8F82F-7BEB-4E69-807B-BABEB871E343}" type="datetime1">
              <a:rPr lang="fr-BE" smtClean="0"/>
              <a:t>03-02-26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F254C0-8668-49E5-B398-AB054DF21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/>
              <a:t>B1-UE09-POO : Lecon01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0889B2-3B99-4434-A7A0-0F735E8DF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123EB-498F-4C7A-A0ED-BDD0483D1C4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685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scircles.cemc.uwaterloo.ca/java_visualize/#code=public+class+Program+%7B%0A++++public+static+void+main(String%5B%5D+args)+%7B%0A++++++long+someInteger+%3D+MyMath.round(MyMath.pow(2,4)/3.0)%3B%0A++++++System.out.printf(%22someInteger%3A+%25d%5Cn%22,+someInteger)%3B%0A++++%7D%0A%7D%0A%0Aclass+MyMath+%7B%0A++public+static+double+pow(double+a,+double+b)+%7B%0A++++return+Math.pow(a,+b)%3B%0A++%7D%0A++%0A++public+static+long+round(double+a)+%7B%0A++++return+Math.round(a)%3B%0A++%7D%0A%7D&amp;mode=display&amp;curInstr=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scircles.cemc.uwaterloo.ca/java_visualize/#code=public+class+Program+%7B%0A++++public+static+void+main(String%5B%5D+args)+%7B%0A++++++long+someInteger+%3D+MyMath.round(MyMath.pow(2,4)/3.0)%3B%0A++++++System.out.printf(%22someInteger%3A+%25d%5Cn%22,+someInteger)%3B%0A++++%7D%0A%7D%0A%0Aclass+MyMath+%7B%0A++public+static+double+pow(double+a,+double+b)+%7B%0A++++return+Math.pow(a,+b)%3B%0A++%7D%0A++%0A++public+static+long+round(double+a)+%7B%0A++++return+Math.round(a)%3B%0A++%7D%0A%7D&amp;mode=display&amp;curInstr=4" TargetMode="External"/><Relationship Id="rId2" Type="http://schemas.openxmlformats.org/officeDocument/2006/relationships/hyperlink" Target="https://pythontutor.com/java.html#code=public%20class%20YourClassNameHere%20%7B%0A%20%20%20%20public%20static%20void%20main%28String%5B%5D%20args%29%20%7B%0A%20%20%20%20%20%20long%20someInteger%20%3D%20MyMath.round%28MyMath.pow%282,4%29/3.0%29%3B%0A%20%20%20%20%20%20System.out.printf%28%22someInteger%3A%20%25d%5Cn%22,%20someInteger%29%3B%0A%20%20%20%20%7D%0A%7D%0A%0Aclass%20MyMath%20%7B%0A%20%20public%20static%20double%20pow%28double%20a,%20double%20b%29%20%7B%0A%20%20%20%20return%20Math.pow%28a,%20b%29%3B%0A%20%20%7D%0A%20%20%0A%20%20public%20static%20long%20round%28double%20a%29%20%7B%0A%20%20%20%20return%20Math.round%28a%29%3B%0A%20%20%7D%0A%7D&amp;cumulative=false&amp;heapPrimitives=nevernest&amp;mode=edit&amp;origin=opt-frontend.js&amp;py=java&amp;rawInputLstJSON=%5B%5D&amp;textReferences=fals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scircles.cemc.uwaterloo.ca/java_visualize/#code=public+class+CardsArray+%7B%0A%0A++++public+static+short+JACK+%3D+11%3B%0A++++public+static+short+QUEEN+%3D+12%3B%0A++++public+static+short+KING+%3D+13%3B%0A++++public+static+short+ACE+%3D+1%3B%0A%0A++++public+static+void+main(String%5B%5D+args)+%7B%0A+++++++Object%5B%5D%5B%5D+cards+%3D+%7B%0A+++++++++++createCard('%E2%99%A0',+JACK),%0A+++++++++++createCard('%E2%99%A1',+QUEEN),%0A+++++++++++createCard('%E2%99%A2',+KING),%0A+++++++++++createCard('%E2%99%A3',+ACE)%0A+++++++%7D%3B%0A+++++++%0A+++++++for+(Object%5B%5D+card+%3A+cards)+%7B%0A+++++++++++System.out.printf(%22%25d%25c+%22,+card%5B1%5D,+card%5B0%5D)%3B%0A+++++++%7D%0A++++%7D%0A%0A++++%0A++++public+static+Object%5B%5D+createCard(char+suit,+short+rank)+%7B%0A++++++++return+new+Object%5B%5D+%7B+suit,+rank,+0+%7D%3B%0A++++%7D%0A%7D&amp;mode=display&amp;disableNesting=1&amp;curInstr=1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077DE5-E3A9-41C0-BC31-1DBDDA9E4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IN-B1-UE09 </a:t>
            </a:r>
            <a:br>
              <a:rPr lang="fr-FR" dirty="0"/>
            </a:br>
            <a:r>
              <a:rPr lang="fr-FR" sz="4900" dirty="0"/>
              <a:t>Programmation Orientée Objet</a:t>
            </a:r>
            <a:endParaRPr lang="fr-BE" sz="49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3E7132-1534-4610-9081-48B621561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Leçon 01 : éléments sur les fonctions</a:t>
            </a:r>
          </a:p>
          <a:p>
            <a:r>
              <a:rPr lang="fr-FR" dirty="0"/>
              <a:t>Correspond au chapitre 1 du Syllabus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BB8640-255E-4E9D-8253-820F5A34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DEA527-38D4-4721-B60D-92A58AD9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044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3AA0D-BED4-4333-8522-F9AEF025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663" y="493902"/>
            <a:ext cx="8773356" cy="1325563"/>
          </a:xfrm>
        </p:spPr>
        <p:txBody>
          <a:bodyPr>
            <a:normAutofit/>
          </a:bodyPr>
          <a:lstStyle/>
          <a:p>
            <a:r>
              <a:rPr lang="fr-BE" sz="3600" b="1" dirty="0"/>
              <a:t>1. Étudiez l’extrait de code Java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D561EF-7F2D-468C-BD17-30898B1A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34715E-969B-4433-AF95-ED22DBBC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2</a:t>
            </a:fld>
            <a:endParaRPr lang="fr-BE"/>
          </a:p>
        </p:txBody>
      </p:sp>
      <p:pic>
        <p:nvPicPr>
          <p:cNvPr id="7" name="Graphique 6" descr="Questions avec un remplissage uni">
            <a:extLst>
              <a:ext uri="{FF2B5EF4-FFF2-40B4-BE49-F238E27FC236}">
                <a16:creationId xmlns:a16="http://schemas.microsoft.com/office/drawing/2014/main" id="{2765C4DC-E57C-458B-A5A0-F0792B07E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050" y="493902"/>
            <a:ext cx="3007312" cy="300731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1FE37D0-BEF9-4425-8629-4492A688735A}"/>
              </a:ext>
            </a:extLst>
          </p:cNvPr>
          <p:cNvSpPr txBox="1"/>
          <p:nvPr/>
        </p:nvSpPr>
        <p:spPr>
          <a:xfrm>
            <a:off x="3674615" y="2598598"/>
            <a:ext cx="7126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someVariable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someVariable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==&gt; 16.0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3433A5-1CDE-431A-B8F9-07D7D6F4C484}"/>
              </a:ext>
            </a:extLst>
          </p:cNvPr>
          <p:cNvSpPr txBox="1"/>
          <p:nvPr/>
        </p:nvSpPr>
        <p:spPr>
          <a:xfrm>
            <a:off x="976542" y="4762587"/>
            <a:ext cx="306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BE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7379F9A-C0FB-43DC-A3E4-0E554F31D5A5}"/>
              </a:ext>
            </a:extLst>
          </p:cNvPr>
          <p:cNvSpPr txBox="1"/>
          <p:nvPr/>
        </p:nvSpPr>
        <p:spPr>
          <a:xfrm>
            <a:off x="976542" y="5279504"/>
            <a:ext cx="322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endParaRPr lang="fr-BE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E01202-B864-45BA-9757-9C38CDD1F9D0}"/>
              </a:ext>
            </a:extLst>
          </p:cNvPr>
          <p:cNvSpPr txBox="1"/>
          <p:nvPr/>
        </p:nvSpPr>
        <p:spPr>
          <a:xfrm>
            <a:off x="976542" y="5796421"/>
            <a:ext cx="306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16.0</a:t>
            </a:r>
            <a:endParaRPr lang="fr-BE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DEF09F3-F7A7-05CB-DE83-CC9B7096FB3B}"/>
              </a:ext>
            </a:extLst>
          </p:cNvPr>
          <p:cNvSpPr txBox="1">
            <a:spLocks/>
          </p:cNvSpPr>
          <p:nvPr/>
        </p:nvSpPr>
        <p:spPr>
          <a:xfrm>
            <a:off x="3243881" y="3177088"/>
            <a:ext cx="87733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BE" sz="3600" b="1" dirty="0"/>
              <a:t>2. Nommez les éléments suivants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D7D3659-7EAE-2249-02AD-D331A80143D6}"/>
              </a:ext>
            </a:extLst>
          </p:cNvPr>
          <p:cNvSpPr txBox="1"/>
          <p:nvPr/>
        </p:nvSpPr>
        <p:spPr>
          <a:xfrm>
            <a:off x="4564971" y="4765763"/>
            <a:ext cx="306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someVariable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9146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E1CAE-2512-4EAF-B4E6-1A919A39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69"/>
            <a:ext cx="10515600" cy="1325563"/>
          </a:xfrm>
        </p:spPr>
        <p:txBody>
          <a:bodyPr/>
          <a:lstStyle/>
          <a:p>
            <a:r>
              <a:rPr lang="fr-FR" dirty="0">
                <a:effectLst/>
              </a:rPr>
              <a:t>Quand il retourne un résultat, </a:t>
            </a:r>
            <a:br>
              <a:rPr lang="fr-FR" dirty="0">
                <a:effectLst/>
              </a:rPr>
            </a:br>
            <a:r>
              <a:rPr lang="fr-FR" dirty="0">
                <a:effectLst/>
              </a:rPr>
              <a:t>un appel de fonction est une </a:t>
            </a:r>
            <a:r>
              <a:rPr lang="fr-FR" b="1" dirty="0">
                <a:effectLst/>
              </a:rPr>
              <a:t>expression</a:t>
            </a:r>
            <a:endParaRPr lang="fr-BE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341D2C-7EC5-46ED-89FC-A5243F13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55218D-46DD-4504-8E37-78488F45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3</a:t>
            </a:fld>
            <a:endParaRPr lang="fr-BE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1484078-81EF-4CB8-B73E-DEA5A5A4C1E1}"/>
              </a:ext>
            </a:extLst>
          </p:cNvPr>
          <p:cNvSpPr txBox="1"/>
          <p:nvPr/>
        </p:nvSpPr>
        <p:spPr>
          <a:xfrm>
            <a:off x="1223210" y="1921365"/>
            <a:ext cx="9495408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ComplexFunctionCall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fr-BE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fr-BE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));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fr-BE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fr-BE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"second = %</a:t>
            </a:r>
            <a:r>
              <a:rPr lang="fr-B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d%n</a:t>
            </a:r>
            <a:r>
              <a:rPr lang="fr-B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second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79F5CF8-5C60-41F3-AAC0-DE323D04CD6E}"/>
              </a:ext>
            </a:extLst>
          </p:cNvPr>
          <p:cNvCxnSpPr/>
          <p:nvPr/>
        </p:nvCxnSpPr>
        <p:spPr>
          <a:xfrm>
            <a:off x="5655076" y="3178206"/>
            <a:ext cx="20773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883A8BB-C398-481D-923B-4A5B4C4D4C36}"/>
              </a:ext>
            </a:extLst>
          </p:cNvPr>
          <p:cNvCxnSpPr>
            <a:cxnSpLocks/>
          </p:cNvCxnSpPr>
          <p:nvPr/>
        </p:nvCxnSpPr>
        <p:spPr>
          <a:xfrm>
            <a:off x="5655076" y="3178206"/>
            <a:ext cx="1038687" cy="1091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45925482-E199-4BB9-A47C-5958E3C238CA}"/>
              </a:ext>
            </a:extLst>
          </p:cNvPr>
          <p:cNvSpPr txBox="1"/>
          <p:nvPr/>
        </p:nvSpPr>
        <p:spPr>
          <a:xfrm>
            <a:off x="6644468" y="4270159"/>
            <a:ext cx="5357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résultat de </a:t>
            </a:r>
            <a:r>
              <a:rPr lang="fr-BE" dirty="0" err="1">
                <a:solidFill>
                  <a:srgbClr val="001080"/>
                </a:solidFill>
                <a:latin typeface="Consolas" panose="020B0609020204030204" pitchFamily="49" charset="0"/>
              </a:rPr>
              <a:t>Math</a:t>
            </a:r>
            <a:r>
              <a:rPr lang="fr-BE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rgbClr val="795E26"/>
                </a:solidFill>
                <a:latin typeface="Consolas" panose="020B0609020204030204" pitchFamily="49" charset="0"/>
              </a:rPr>
              <a:t>max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fr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</a:rPr>
              <a:t>75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fr-FR" dirty="0"/>
          </a:p>
          <a:p>
            <a:r>
              <a:rPr lang="fr-FR" dirty="0"/>
              <a:t>devient le second argument de l’appel à </a:t>
            </a:r>
            <a:r>
              <a:rPr lang="fr-BE" dirty="0" err="1">
                <a:solidFill>
                  <a:srgbClr val="001080"/>
                </a:solidFill>
                <a:latin typeface="Consolas" panose="020B0609020204030204" pitchFamily="49" charset="0"/>
              </a:rPr>
              <a:t>Math</a:t>
            </a:r>
            <a:r>
              <a:rPr lang="fr-BE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rgbClr val="795E26"/>
                </a:solidFill>
                <a:latin typeface="Consolas" panose="020B0609020204030204" pitchFamily="49" charset="0"/>
              </a:rPr>
              <a:t>min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222222"/>
                </a:solidFill>
                <a:latin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222222"/>
                </a:solidFill>
                <a:latin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7104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373C8-5511-4AF1-ABF1-03519496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 exécute un appel en 3 étapes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4BBF5A-C67B-4B0C-8404-0AAC553CE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9998"/>
            <a:ext cx="3200400" cy="120032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400" dirty="0"/>
              <a:t>Évaluation des arguments, de gauche à droite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CF2EDD-B30D-43D8-84D9-4A53C61C6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E096EB-BC95-4705-A5F0-9C40086E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4</a:t>
            </a:fld>
            <a:endParaRPr lang="fr-BE"/>
          </a:p>
        </p:txBody>
      </p:sp>
      <p:sp>
        <p:nvSpPr>
          <p:cNvPr id="6" name="ZoneTexte 5">
            <a:hlinkClick r:id="rId2"/>
            <a:extLst>
              <a:ext uri="{FF2B5EF4-FFF2-40B4-BE49-F238E27FC236}">
                <a16:creationId xmlns:a16="http://schemas.microsoft.com/office/drawing/2014/main" id="{20A3CB32-82DC-4F96-8567-4951DA89DA65}"/>
              </a:ext>
            </a:extLst>
          </p:cNvPr>
          <p:cNvSpPr txBox="1"/>
          <p:nvPr/>
        </p:nvSpPr>
        <p:spPr>
          <a:xfrm>
            <a:off x="838200" y="1922366"/>
            <a:ext cx="9495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400" dirty="0">
                <a:solidFill>
                  <a:srgbClr val="267F99"/>
                </a:solidFill>
                <a:latin typeface="Consolas" panose="020B0609020204030204" pitchFamily="49" charset="0"/>
              </a:rPr>
              <a:t>long</a:t>
            </a:r>
            <a:r>
              <a:rPr lang="fr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BE" sz="2400" dirty="0">
                <a:solidFill>
                  <a:srgbClr val="001080"/>
                </a:solidFill>
                <a:latin typeface="Consolas" panose="020B0609020204030204" pitchFamily="49" charset="0"/>
              </a:rPr>
              <a:t>second</a:t>
            </a:r>
            <a:r>
              <a:rPr lang="fr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BE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Math</a:t>
            </a:r>
            <a:r>
              <a:rPr lang="fr-BE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fr-BE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min</a:t>
            </a:r>
            <a:r>
              <a:rPr lang="fr-BE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fr-BE" sz="24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fr-BE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fr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BE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Math</a:t>
            </a:r>
            <a:r>
              <a:rPr lang="fr-BE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fr-BE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max</a:t>
            </a:r>
            <a:r>
              <a:rPr lang="fr-BE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fr-BE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fr-BE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fr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BE" sz="2400" dirty="0">
                <a:solidFill>
                  <a:srgbClr val="098658"/>
                </a:solidFill>
                <a:latin typeface="Consolas" panose="020B0609020204030204" pitchFamily="49" charset="0"/>
              </a:rPr>
              <a:t>75</a:t>
            </a:r>
            <a:r>
              <a:rPr lang="fr-BE" sz="24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endParaRPr lang="en-US" sz="2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22D4C26-50C1-4ACD-8E6C-98855B8E5B71}"/>
              </a:ext>
            </a:extLst>
          </p:cNvPr>
          <p:cNvSpPr txBox="1"/>
          <p:nvPr/>
        </p:nvSpPr>
        <p:spPr>
          <a:xfrm>
            <a:off x="8850297" y="2615709"/>
            <a:ext cx="2503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3. Récupération du résultat à la fin de l’appel</a:t>
            </a:r>
            <a:endParaRPr lang="fr-BE" sz="2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C205DBB-C142-4A81-98BA-8CFC7BE1AADC}"/>
              </a:ext>
            </a:extLst>
          </p:cNvPr>
          <p:cNvSpPr txBox="1"/>
          <p:nvPr/>
        </p:nvSpPr>
        <p:spPr>
          <a:xfrm>
            <a:off x="838200" y="4682960"/>
            <a:ext cx="3458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fr-BE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fr-BE" dirty="0">
                <a:solidFill>
                  <a:srgbClr val="00108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42</a:t>
            </a:r>
            <a:endParaRPr lang="fr-BE" dirty="0">
              <a:solidFill>
                <a:srgbClr val="098658"/>
              </a:solidFill>
              <a:latin typeface="Consolas" panose="020B0609020204030204" pitchFamily="49" charset="0"/>
            </a:endParaRPr>
          </a:p>
          <a:p>
            <a:r>
              <a:rPr lang="fr-BE" dirty="0" err="1">
                <a:solidFill>
                  <a:srgbClr val="001080"/>
                </a:solidFill>
                <a:latin typeface="Consolas" panose="020B0609020204030204" pitchFamily="49" charset="0"/>
              </a:rPr>
              <a:t>Math</a:t>
            </a:r>
            <a:r>
              <a:rPr lang="fr-BE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rgbClr val="795E26"/>
                </a:solidFill>
                <a:latin typeface="Consolas" panose="020B0609020204030204" pitchFamily="49" charset="0"/>
              </a:rPr>
              <a:t>max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fr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</a:rPr>
              <a:t>75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</a:rPr>
              <a:t>) </a:t>
            </a:r>
            <a:r>
              <a:rPr lang="fr-BE" dirty="0">
                <a:solidFill>
                  <a:srgbClr val="22222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fr-BE" dirty="0">
                <a:solidFill>
                  <a:srgbClr val="098658"/>
                </a:solidFill>
                <a:latin typeface="Consolas" panose="020B0609020204030204" pitchFamily="49" charset="0"/>
              </a:rPr>
              <a:t> 75</a:t>
            </a:r>
            <a:endParaRPr lang="fr-BE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690DAED-E53E-4D5D-96B0-1C5BDB63BE44}"/>
              </a:ext>
            </a:extLst>
          </p:cNvPr>
          <p:cNvSpPr txBox="1"/>
          <p:nvPr/>
        </p:nvSpPr>
        <p:spPr>
          <a:xfrm>
            <a:off x="4994059" y="2673205"/>
            <a:ext cx="29007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2. Affectation des arguments aux </a:t>
            </a:r>
            <a:r>
              <a:rPr lang="fr-FR" sz="2400" dirty="0">
                <a:solidFill>
                  <a:schemeClr val="accent1"/>
                </a:solidFill>
              </a:rPr>
              <a:t>paramètres</a:t>
            </a:r>
            <a:r>
              <a:rPr lang="fr-FR" sz="2400" dirty="0"/>
              <a:t> de la fonction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BB4EF-F080-9D81-9CC1-8E311C47B4C3}"/>
              </a:ext>
            </a:extLst>
          </p:cNvPr>
          <p:cNvSpPr/>
          <p:nvPr/>
        </p:nvSpPr>
        <p:spPr>
          <a:xfrm>
            <a:off x="4994059" y="5384132"/>
            <a:ext cx="2647950" cy="745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BE" dirty="0"/>
              <a:t>main</a:t>
            </a:r>
          </a:p>
          <a:p>
            <a:r>
              <a:rPr lang="fr-BE" dirty="0"/>
              <a:t>second =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B33675-0595-3137-2244-6680FF909CCB}"/>
              </a:ext>
            </a:extLst>
          </p:cNvPr>
          <p:cNvSpPr/>
          <p:nvPr/>
        </p:nvSpPr>
        <p:spPr>
          <a:xfrm>
            <a:off x="4994059" y="4313322"/>
            <a:ext cx="2647950" cy="1065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BE" dirty="0"/>
              <a:t>min</a:t>
            </a:r>
          </a:p>
          <a:p>
            <a:r>
              <a:rPr lang="fr-BE" dirty="0"/>
              <a:t>a = 42</a:t>
            </a:r>
          </a:p>
          <a:p>
            <a:r>
              <a:rPr lang="fr-BE" dirty="0"/>
              <a:t>b = 75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50D950-9764-EA74-6AD0-E4CC1F2496BF}"/>
              </a:ext>
            </a:extLst>
          </p:cNvPr>
          <p:cNvSpPr/>
          <p:nvPr/>
        </p:nvSpPr>
        <p:spPr>
          <a:xfrm>
            <a:off x="8610600" y="5379103"/>
            <a:ext cx="2647950" cy="745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BE" dirty="0"/>
              <a:t>main</a:t>
            </a:r>
          </a:p>
          <a:p>
            <a:r>
              <a:rPr lang="fr-BE" dirty="0"/>
              <a:t>second = 42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8F3141-3BE3-E55C-7D0D-17C3352B83A7}"/>
              </a:ext>
            </a:extLst>
          </p:cNvPr>
          <p:cNvSpPr/>
          <p:nvPr/>
        </p:nvSpPr>
        <p:spPr>
          <a:xfrm>
            <a:off x="8610600" y="4070503"/>
            <a:ext cx="2647950" cy="59937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BE" dirty="0"/>
              <a:t>Return value</a:t>
            </a:r>
          </a:p>
          <a:p>
            <a:r>
              <a:rPr lang="fr-BE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83699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C18C1-5CF2-4257-93A1-63898087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642"/>
            <a:ext cx="10515600" cy="2067356"/>
          </a:xfrm>
        </p:spPr>
        <p:txBody>
          <a:bodyPr>
            <a:normAutofit/>
          </a:bodyPr>
          <a:lstStyle/>
          <a:p>
            <a:r>
              <a:rPr lang="fr-FR" dirty="0"/>
              <a:t>Tout appel de fonction crée un cadre d’exécution (</a:t>
            </a:r>
            <a:r>
              <a:rPr lang="fr-FR" i="1" dirty="0"/>
              <a:t>running frame</a:t>
            </a:r>
            <a:r>
              <a:rPr lang="fr-FR" dirty="0"/>
              <a:t>) où les variables de la fonction sont mémorisées.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924654-2259-4731-A4F2-DDAD81A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08FBD9-86E6-4312-AD74-F4747B30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5</a:t>
            </a:fld>
            <a:endParaRPr lang="fr-BE"/>
          </a:p>
        </p:txBody>
      </p:sp>
      <p:sp>
        <p:nvSpPr>
          <p:cNvPr id="8" name="ZoneTexte 7">
            <a:hlinkClick r:id="rId2"/>
            <a:extLst>
              <a:ext uri="{FF2B5EF4-FFF2-40B4-BE49-F238E27FC236}">
                <a16:creationId xmlns:a16="http://schemas.microsoft.com/office/drawing/2014/main" id="{99337507-B0E1-4719-AE99-33BCD8DC2A0B}"/>
              </a:ext>
            </a:extLst>
          </p:cNvPr>
          <p:cNvSpPr txBox="1"/>
          <p:nvPr/>
        </p:nvSpPr>
        <p:spPr>
          <a:xfrm>
            <a:off x="838200" y="3097398"/>
            <a:ext cx="931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Voir le cycle de vie d’un </a:t>
            </a:r>
            <a:r>
              <a:rPr lang="fr-FR" dirty="0">
                <a:hlinkClick r:id="rId3"/>
              </a:rPr>
              <a:t>cadre</a:t>
            </a:r>
            <a:r>
              <a:rPr lang="fr-FR" dirty="0"/>
              <a:t> d’exécution avec Java </a:t>
            </a:r>
            <a:r>
              <a:rPr lang="fr-FR" dirty="0" err="1"/>
              <a:t>Tutor</a:t>
            </a:r>
            <a:r>
              <a:rPr lang="fr-FR" dirty="0"/>
              <a:t>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9295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3AA0D-BED4-4333-8522-F9AEF025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213" y="305718"/>
            <a:ext cx="8773356" cy="1325563"/>
          </a:xfrm>
        </p:spPr>
        <p:txBody>
          <a:bodyPr>
            <a:normAutofit/>
          </a:bodyPr>
          <a:lstStyle/>
          <a:p>
            <a:r>
              <a:rPr lang="fr-FR" sz="3600" dirty="0"/>
              <a:t>Identifiez les termes suivants dans l’extrait</a:t>
            </a:r>
            <a:endParaRPr lang="fr-BE" sz="3600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D561EF-7F2D-468C-BD17-30898B1A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34715E-969B-4433-AF95-ED22DBBC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6</a:t>
            </a:fld>
            <a:endParaRPr lang="fr-BE"/>
          </a:p>
        </p:txBody>
      </p:sp>
      <p:pic>
        <p:nvPicPr>
          <p:cNvPr id="7" name="Graphique 6" descr="Questions avec un remplissage uni">
            <a:extLst>
              <a:ext uri="{FF2B5EF4-FFF2-40B4-BE49-F238E27FC236}">
                <a16:creationId xmlns:a16="http://schemas.microsoft.com/office/drawing/2014/main" id="{2765C4DC-E57C-458B-A5A0-F0792B07E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300" y="399577"/>
            <a:ext cx="2518913" cy="251891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6160D54-8AF7-4DA0-9EDB-0D60C51DFEC5}"/>
              </a:ext>
            </a:extLst>
          </p:cNvPr>
          <p:cNvSpPr txBox="1"/>
          <p:nvPr/>
        </p:nvSpPr>
        <p:spPr>
          <a:xfrm>
            <a:off x="667299" y="5873302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📕</a:t>
            </a:r>
            <a:r>
              <a:rPr lang="fr-FR" dirty="0"/>
              <a:t>section 1.2</a:t>
            </a:r>
            <a:endParaRPr lang="fr-BE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BC485A8-BDCE-4E14-84EA-7A54F52F3241}"/>
              </a:ext>
            </a:extLst>
          </p:cNvPr>
          <p:cNvSpPr txBox="1"/>
          <p:nvPr/>
        </p:nvSpPr>
        <p:spPr>
          <a:xfrm>
            <a:off x="667299" y="2987388"/>
            <a:ext cx="277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En-tête d’une fonction</a:t>
            </a:r>
            <a:endParaRPr lang="fr-BE" dirty="0">
              <a:solidFill>
                <a:schemeClr val="tx2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6F185A7-BC0D-45EF-8B7A-B73125F4F6AF}"/>
              </a:ext>
            </a:extLst>
          </p:cNvPr>
          <p:cNvSpPr txBox="1"/>
          <p:nvPr/>
        </p:nvSpPr>
        <p:spPr>
          <a:xfrm>
            <a:off x="667299" y="3501281"/>
            <a:ext cx="277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Signature d’une fonction</a:t>
            </a:r>
            <a:endParaRPr lang="fr-BE" dirty="0">
              <a:solidFill>
                <a:schemeClr val="accent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96D4D47-424A-424A-A49B-788E8596C93D}"/>
              </a:ext>
            </a:extLst>
          </p:cNvPr>
          <p:cNvSpPr txBox="1"/>
          <p:nvPr/>
        </p:nvSpPr>
        <p:spPr>
          <a:xfrm>
            <a:off x="667299" y="3953890"/>
            <a:ext cx="277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Paramètre d’une fonction</a:t>
            </a:r>
            <a:endParaRPr lang="fr-BE" dirty="0">
              <a:solidFill>
                <a:schemeClr val="accent2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B354E27-8F75-4C07-953B-201BC663C221}"/>
              </a:ext>
            </a:extLst>
          </p:cNvPr>
          <p:cNvSpPr txBox="1"/>
          <p:nvPr/>
        </p:nvSpPr>
        <p:spPr>
          <a:xfrm>
            <a:off x="667299" y="4412641"/>
            <a:ext cx="277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4"/>
                </a:solidFill>
              </a:rPr>
              <a:t>Corps d’une fonction</a:t>
            </a:r>
            <a:endParaRPr lang="fr-BE" dirty="0">
              <a:solidFill>
                <a:schemeClr val="accent4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56B2C-F4DF-4CC5-AB6C-7E72F9F5D94E}"/>
              </a:ext>
            </a:extLst>
          </p:cNvPr>
          <p:cNvSpPr txBox="1"/>
          <p:nvPr/>
        </p:nvSpPr>
        <p:spPr>
          <a:xfrm>
            <a:off x="667299" y="4853870"/>
            <a:ext cx="277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5"/>
                </a:solidFill>
              </a:rPr>
              <a:t>Instruction de retour</a:t>
            </a:r>
            <a:endParaRPr lang="fr-BE" dirty="0">
              <a:solidFill>
                <a:schemeClr val="accent5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2A65E71-D2A3-E65C-3B7A-BBBD9D634547}"/>
              </a:ext>
            </a:extLst>
          </p:cNvPr>
          <p:cNvSpPr txBox="1"/>
          <p:nvPr/>
        </p:nvSpPr>
        <p:spPr>
          <a:xfrm>
            <a:off x="3072565" y="1537422"/>
            <a:ext cx="911943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Rpg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computeRequiredXpForNextLevel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Sortie rapide si </a:t>
            </a:r>
            <a:r>
              <a:rPr lang="fr-B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n'est pas dans [1; 99]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B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requiredXp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requiredXp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requiredXp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requiredXp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actualLevel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138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requiredXp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fr-BE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2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5A553-B787-4AF2-9FBD-315D5B98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009"/>
            <a:ext cx="10515600" cy="1325563"/>
          </a:xfrm>
        </p:spPr>
        <p:txBody>
          <a:bodyPr/>
          <a:lstStyle/>
          <a:p>
            <a:r>
              <a:rPr lang="fr-FR" dirty="0"/>
              <a:t>Faites la première série d’exercices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327C22-5C68-414C-9E8E-C62ED6AC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C84083-A82F-4396-9110-60BA71FA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7</a:t>
            </a:fld>
            <a:endParaRPr lang="fr-BE"/>
          </a:p>
        </p:txBody>
      </p:sp>
      <p:pic>
        <p:nvPicPr>
          <p:cNvPr id="7" name="Graphique 6" descr="Sablier 60% avec un remplissage uni">
            <a:extLst>
              <a:ext uri="{FF2B5EF4-FFF2-40B4-BE49-F238E27FC236}">
                <a16:creationId xmlns:a16="http://schemas.microsoft.com/office/drawing/2014/main" id="{89390E45-A9DE-4FA5-B3F7-B541DF9C6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1325" y="540236"/>
            <a:ext cx="914400" cy="914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BD0CB42-5B80-4D8D-AED6-36DFBB316DEC}"/>
              </a:ext>
            </a:extLst>
          </p:cNvPr>
          <p:cNvSpPr txBox="1"/>
          <p:nvPr/>
        </p:nvSpPr>
        <p:spPr>
          <a:xfrm>
            <a:off x="10367962" y="1572863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 minutes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2238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FD73C-2E37-4FEB-9393-76ACD247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753"/>
            <a:ext cx="10515600" cy="1325563"/>
          </a:xfrm>
        </p:spPr>
        <p:txBody>
          <a:bodyPr/>
          <a:lstStyle/>
          <a:p>
            <a:r>
              <a:rPr lang="fr-FR" dirty="0"/>
              <a:t>Java interdit à une fonction de retourner plusieurs résultats,…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C0013E1-FB0E-4503-A95D-C2DAE70DE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5D8BC5-6B12-41E4-A86C-A562A3EA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8</a:t>
            </a:fld>
            <a:endParaRPr lang="fr-BE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10C59CA-B81B-4298-8030-37A6774CF740}"/>
              </a:ext>
            </a:extLst>
          </p:cNvPr>
          <p:cNvSpPr txBox="1">
            <a:spLocks/>
          </p:cNvSpPr>
          <p:nvPr/>
        </p:nvSpPr>
        <p:spPr>
          <a:xfrm>
            <a:off x="838200" y="3535934"/>
            <a:ext cx="110223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…mais vous pouvez tricher avec les tableaux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159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C0705-BCCC-4E54-92D4-861695E1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Grâce aux tableaux, une fonction peut retourner plusieurs valeurs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5466A5-DE83-4A0E-8316-951D16E4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659AA-D444-431F-830C-E6F21644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9</a:t>
            </a:fld>
            <a:endParaRPr lang="fr-BE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602FF5-E141-4CAC-A04A-355765A4BC81}"/>
              </a:ext>
            </a:extLst>
          </p:cNvPr>
          <p:cNvSpPr txBox="1"/>
          <p:nvPr/>
        </p:nvSpPr>
        <p:spPr>
          <a:xfrm>
            <a:off x="744614" y="3115578"/>
            <a:ext cx="65879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/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short</a:t>
            </a:r>
            <a:r>
              <a:rPr lang="en-US" dirty="0"/>
              <a:t>[] </a:t>
            </a:r>
            <a:r>
              <a:rPr lang="en-US" dirty="0" err="1"/>
              <a:t>createCard</a:t>
            </a:r>
            <a:r>
              <a:rPr lang="en-US" dirty="0"/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short</a:t>
            </a:r>
            <a:r>
              <a:rPr lang="en-US" dirty="0"/>
              <a:t> suit,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short</a:t>
            </a:r>
            <a:r>
              <a:rPr lang="en-US" dirty="0"/>
              <a:t> rank) {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dirty="0"/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short</a:t>
            </a:r>
            <a:r>
              <a:rPr lang="en-US" dirty="0"/>
              <a:t>[] { suit, rank, 0 };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752F467-7E26-4732-8046-93F1D6F399B9}"/>
              </a:ext>
            </a:extLst>
          </p:cNvPr>
          <p:cNvSpPr txBox="1"/>
          <p:nvPr/>
        </p:nvSpPr>
        <p:spPr>
          <a:xfrm>
            <a:off x="744614" y="2602922"/>
            <a:ext cx="575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De même type…</a:t>
            </a:r>
            <a:endParaRPr lang="fr-BE" sz="2400" b="1" dirty="0"/>
          </a:p>
        </p:txBody>
      </p:sp>
      <p:sp>
        <p:nvSpPr>
          <p:cNvPr id="10" name="ZoneTexte 9">
            <a:hlinkClick r:id="rId2"/>
            <a:extLst>
              <a:ext uri="{FF2B5EF4-FFF2-40B4-BE49-F238E27FC236}">
                <a16:creationId xmlns:a16="http://schemas.microsoft.com/office/drawing/2014/main" id="{30E4584E-D903-4560-BC87-2D366CB62267}"/>
              </a:ext>
            </a:extLst>
          </p:cNvPr>
          <p:cNvSpPr txBox="1"/>
          <p:nvPr/>
        </p:nvSpPr>
        <p:spPr>
          <a:xfrm>
            <a:off x="5485134" y="4415210"/>
            <a:ext cx="6490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/>
              <a:t> Object[] </a:t>
            </a:r>
            <a:r>
              <a:rPr lang="en-US" dirty="0" err="1"/>
              <a:t>createCard</a:t>
            </a:r>
            <a:r>
              <a:rPr lang="en-US" dirty="0"/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char</a:t>
            </a:r>
            <a:r>
              <a:rPr lang="en-US" dirty="0"/>
              <a:t> suit,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short</a:t>
            </a:r>
            <a:r>
              <a:rPr lang="en-US" dirty="0"/>
              <a:t> rank)  {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dirty="0"/>
              <a:t> Object[] { suit, rank, 0 };</a:t>
            </a:r>
          </a:p>
          <a:p>
            <a:r>
              <a:rPr lang="en-US" dirty="0"/>
              <a:t>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F6F4094-CE4D-4F7C-A99E-5C65851DD39B}"/>
              </a:ext>
            </a:extLst>
          </p:cNvPr>
          <p:cNvSpPr txBox="1"/>
          <p:nvPr/>
        </p:nvSpPr>
        <p:spPr>
          <a:xfrm>
            <a:off x="5485134" y="3859066"/>
            <a:ext cx="575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… Ou de types différents</a:t>
            </a:r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83422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DEE4D0C-0E6F-4C66-A492-E4B631C9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28CDC6-BB47-4530-888B-6DF09B33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10</a:t>
            </a:fld>
            <a:endParaRPr lang="fr-BE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35B45BA8-411E-4676-B374-23B5DE23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Qu’affiche ce programme ?</a:t>
            </a:r>
            <a:endParaRPr lang="fr-BE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849A47-B4DE-4502-BDA9-52ED0DF6068B}"/>
              </a:ext>
            </a:extLst>
          </p:cNvPr>
          <p:cNvSpPr txBox="1"/>
          <p:nvPr/>
        </p:nvSpPr>
        <p:spPr>
          <a:xfrm>
            <a:off x="838200" y="1756778"/>
            <a:ext cx="85469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ImmutableNatural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++val;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ValueParameter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ImmutableNatural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(a);</a:t>
            </a:r>
          </a:p>
          <a:p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fr-BE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fr-BE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value : %d"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a);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fr-B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//==&gt; a value : ?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C57F5F7-35E7-3391-D05C-14C7EBD81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25" y="2051348"/>
            <a:ext cx="4607720" cy="291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0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700741-2C0B-4776-9B83-AF9D2F98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690"/>
            <a:ext cx="10515600" cy="1325563"/>
          </a:xfrm>
        </p:spPr>
        <p:txBody>
          <a:bodyPr/>
          <a:lstStyle/>
          <a:p>
            <a:r>
              <a:rPr lang="fr-FR" dirty="0"/>
              <a:t>Pour les types primitifs, Java transmet les arguments par valeur,…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E6CE82-5642-420D-9033-23FEF92A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CA0449-1AAE-40F6-8A02-C3BC4A7F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11</a:t>
            </a:fld>
            <a:endParaRPr lang="fr-BE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1DF6D85-BE6D-4CF7-88C5-7828CE483D10}"/>
              </a:ext>
            </a:extLst>
          </p:cNvPr>
          <p:cNvSpPr txBox="1">
            <a:spLocks/>
          </p:cNvSpPr>
          <p:nvPr/>
        </p:nvSpPr>
        <p:spPr>
          <a:xfrm>
            <a:off x="1062134" y="3537202"/>
            <a:ext cx="110223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…mais vous pouvez tricher avec les tableaux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0117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77C822-B5A8-47D2-8866-ED70A52D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Qu’affiche ce programme ?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A628267-2039-40BF-921C-28B39EE9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0950C9-A2C1-4F9C-A786-D327D30B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12</a:t>
            </a:fld>
            <a:endParaRPr lang="fr-BE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D098B4-690F-4DA9-94AD-C76FF0FC40CC}"/>
              </a:ext>
            </a:extLst>
          </p:cNvPr>
          <p:cNvSpPr txBox="1"/>
          <p:nvPr/>
        </p:nvSpPr>
        <p:spPr>
          <a:xfrm>
            <a:off x="837460" y="2085432"/>
            <a:ext cx="91447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MutableNatural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++val[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ReferenceParameter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B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B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MutableNatural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fr-BE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fr-BE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B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B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value : %d"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a[</a:t>
            </a:r>
            <a:r>
              <a:rPr lang="fr-B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fr-B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//==&gt; a value : 43</a:t>
            </a:r>
            <a:endParaRPr lang="fr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B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3434F80-65E6-1012-48B7-65482281A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946" y="1931540"/>
            <a:ext cx="4694327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1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5A553-B787-4AF2-9FBD-315D5B98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009"/>
            <a:ext cx="10515600" cy="1325563"/>
          </a:xfrm>
        </p:spPr>
        <p:txBody>
          <a:bodyPr/>
          <a:lstStyle/>
          <a:p>
            <a:r>
              <a:rPr lang="fr-FR" dirty="0"/>
              <a:t>Faites la seconde série d’exercices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327C22-5C68-414C-9E8E-C62ED6AC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C84083-A82F-4396-9110-60BA71FA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13</a:t>
            </a:fld>
            <a:endParaRPr lang="fr-BE"/>
          </a:p>
        </p:txBody>
      </p:sp>
      <p:pic>
        <p:nvPicPr>
          <p:cNvPr id="7" name="Graphique 6" descr="Sablier 60% avec un remplissage uni">
            <a:extLst>
              <a:ext uri="{FF2B5EF4-FFF2-40B4-BE49-F238E27FC236}">
                <a16:creationId xmlns:a16="http://schemas.microsoft.com/office/drawing/2014/main" id="{89390E45-A9DE-4FA5-B3F7-B541DF9C6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1325" y="540236"/>
            <a:ext cx="914400" cy="914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BD0CB42-5B80-4D8D-AED6-36DFBB316DEC}"/>
              </a:ext>
            </a:extLst>
          </p:cNvPr>
          <p:cNvSpPr txBox="1"/>
          <p:nvPr/>
        </p:nvSpPr>
        <p:spPr>
          <a:xfrm>
            <a:off x="10367962" y="1572863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 minutes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66131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3CC5D6-0EA8-4CD4-847B-A3452BC6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la séance suivante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5F42BC-9100-4360-8E6F-B642380A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58507"/>
          </a:xfrm>
        </p:spPr>
        <p:txBody>
          <a:bodyPr/>
          <a:lstStyle/>
          <a:p>
            <a:r>
              <a:rPr lang="fr-FR" dirty="0"/>
              <a:t>Lire le chapitre 1 du syllabus, en particulier </a:t>
            </a:r>
          </a:p>
          <a:p>
            <a:pPr lvl="1"/>
            <a:r>
              <a:rPr lang="fr-FR" dirty="0"/>
              <a:t>La section 1.5 sur les fonctions pures</a:t>
            </a:r>
          </a:p>
          <a:p>
            <a:pPr lvl="1"/>
            <a:r>
              <a:rPr lang="fr-FR" dirty="0"/>
              <a:t>La section 1.6 sur les </a:t>
            </a:r>
            <a:r>
              <a:rPr lang="fr-FR" dirty="0" err="1"/>
              <a:t>varargs</a:t>
            </a:r>
            <a:endParaRPr lang="fr-FR" dirty="0"/>
          </a:p>
          <a:p>
            <a:r>
              <a:rPr lang="fr-FR" dirty="0"/>
              <a:t>Faire l’atelier 1 (aucune limite de tentatives)</a:t>
            </a:r>
          </a:p>
          <a:p>
            <a:r>
              <a:rPr lang="fr-FR" dirty="0"/>
              <a:t>Refaire les exercices (aucune limite de tentative)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5B7C6E-DD8B-4DA3-990D-E970F1F9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B1-UE09-POO : Lecon01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F914B0-DEB8-4B66-B277-E563956F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123EB-498F-4C7A-A0ED-BDD0483D1C40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5104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D90B3C"/>
      </a:accent1>
      <a:accent2>
        <a:srgbClr val="D90B86"/>
      </a:accent2>
      <a:accent3>
        <a:srgbClr val="D90BCF"/>
      </a:accent3>
      <a:accent4>
        <a:srgbClr val="550BD9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Roboto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785</Words>
  <Application>Microsoft Office PowerPoint</Application>
  <PresentationFormat>Grand écran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Roboto</vt:lpstr>
      <vt:lpstr>Roboto Light</vt:lpstr>
      <vt:lpstr>Thème Office</vt:lpstr>
      <vt:lpstr>IN-B1-UE09  Programmation Orientée Objet</vt:lpstr>
      <vt:lpstr>1. Étudiez l’extrait de code Java</vt:lpstr>
      <vt:lpstr>Quand il retourne un résultat,  un appel de fonction est une expression</vt:lpstr>
      <vt:lpstr>Java exécute un appel en 3 étapes</vt:lpstr>
      <vt:lpstr>Tout appel de fonction crée un cadre d’exécution (running frame) où les variables de la fonction sont mémorisées.</vt:lpstr>
      <vt:lpstr>Identifiez les termes suivants dans l’extrait</vt:lpstr>
      <vt:lpstr>Faites la première série d’exercices</vt:lpstr>
      <vt:lpstr>Java interdit à une fonction de retourner plusieurs résultats,…</vt:lpstr>
      <vt:lpstr>Grâce aux tableaux, une fonction peut retourner plusieurs valeurs</vt:lpstr>
      <vt:lpstr>Qu’affiche ce programme ?</vt:lpstr>
      <vt:lpstr>Pour les types primitifs, Java transmet les arguments par valeur,…</vt:lpstr>
      <vt:lpstr>Qu’affiche ce programme ?</vt:lpstr>
      <vt:lpstr>Faites la seconde série d’exercices</vt:lpstr>
      <vt:lpstr>Pour la séance suivante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IN-B1-UE09  Programmation Avancée</dc:title>
  <dc:creator>Nicolas HENDRIKX</dc:creator>
  <cp:lastModifiedBy>Nicolas HENDRIKX</cp:lastModifiedBy>
  <cp:revision>27</cp:revision>
  <dcterms:created xsi:type="dcterms:W3CDTF">2022-02-05T12:29:07Z</dcterms:created>
  <dcterms:modified xsi:type="dcterms:W3CDTF">2026-02-03T08:18:18Z</dcterms:modified>
</cp:coreProperties>
</file>